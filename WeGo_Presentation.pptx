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4A4A4A"/>
                </a:solidFill>
                <a:latin typeface="Arial"/>
              </a:rPr>
              <a:t>Distribution of Adherence (minutes) — most buses cluster between -6 and +1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6B1D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B1D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33B-4FAA-A209-9483CF3A2C3C}"/>
              </c:ext>
            </c:extLst>
          </c:dPt>
          <c:dPt>
            <c:idx val="1"/>
            <c:invertIfNegative val="0"/>
            <c:bubble3D val="0"/>
            <c:spPr>
              <a:solidFill>
                <a:srgbClr val="6B1D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33B-4FAA-A209-9483CF3A2C3C}"/>
              </c:ext>
            </c:extLst>
          </c:dPt>
          <c:dPt>
            <c:idx val="2"/>
            <c:invertIfNegative val="0"/>
            <c:bubble3D val="0"/>
            <c:spPr>
              <a:solidFill>
                <a:srgbClr val="6B1D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33B-4FAA-A209-9483CF3A2C3C}"/>
              </c:ext>
            </c:extLst>
          </c:dPt>
          <c:dPt>
            <c:idx val="3"/>
            <c:invertIfNegative val="0"/>
            <c:bubble3D val="0"/>
            <c:spPr>
              <a:solidFill>
                <a:srgbClr val="6B1D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33B-4FAA-A209-9483CF3A2C3C}"/>
              </c:ext>
            </c:extLst>
          </c:dPt>
          <c:dPt>
            <c:idx val="4"/>
            <c:invertIfNegative val="0"/>
            <c:bubble3D val="0"/>
            <c:spPr>
              <a:solidFill>
                <a:srgbClr val="8C2C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33B-4FAA-A209-9483CF3A2C3C}"/>
              </c:ext>
            </c:extLst>
          </c:dPt>
          <c:dPt>
            <c:idx val="5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33B-4FAA-A209-9483CF3A2C3C}"/>
              </c:ext>
            </c:extLst>
          </c:dPt>
          <c:dPt>
            <c:idx val="6"/>
            <c:invertIfNegative val="0"/>
            <c:bubble3D val="0"/>
            <c:spPr>
              <a:solidFill>
                <a:srgbClr val="C45C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33B-4FAA-A209-9483CF3A2C3C}"/>
              </c:ext>
            </c:extLst>
          </c:dPt>
          <c:dPt>
            <c:idx val="7"/>
            <c:invertIfNegative val="0"/>
            <c:bubble3D val="0"/>
            <c:spPr>
              <a:solidFill>
                <a:srgbClr val="E078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333B-4FAA-A209-9483CF3A2C3C}"/>
              </c:ext>
            </c:extLst>
          </c:dPt>
          <c:dPt>
            <c:idx val="8"/>
            <c:invertIfNegative val="0"/>
            <c:bubble3D val="0"/>
            <c:spPr>
              <a:solidFill>
                <a:srgbClr val="6B1D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333B-4FAA-A209-9483CF3A2C3C}"/>
              </c:ext>
            </c:extLst>
          </c:dPt>
          <c:cat>
            <c:strRef>
              <c:f>Sheet1!$A$2:$A$10</c:f>
              <c:strCache>
                <c:ptCount val="9"/>
                <c:pt idx="0">
                  <c:v>&lt; -20</c:v>
                </c:pt>
                <c:pt idx="1">
                  <c:v>-20 to -15</c:v>
                </c:pt>
                <c:pt idx="2">
                  <c:v>-15 to -10</c:v>
                </c:pt>
                <c:pt idx="3">
                  <c:v>-10 to -6</c:v>
                </c:pt>
                <c:pt idx="4">
                  <c:v>-6 to -3</c:v>
                </c:pt>
                <c:pt idx="5">
                  <c:v>-3 to 0</c:v>
                </c:pt>
                <c:pt idx="6">
                  <c:v>0 to 1</c:v>
                </c:pt>
                <c:pt idx="7">
                  <c:v>1 to 5</c:v>
                </c:pt>
                <c:pt idx="8">
                  <c:v>&gt; 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3200</c:v>
                </c:pt>
                <c:pt idx="1">
                  <c:v>5800</c:v>
                </c:pt>
                <c:pt idx="2">
                  <c:v>9400</c:v>
                </c:pt>
                <c:pt idx="3">
                  <c:v>14200</c:v>
                </c:pt>
                <c:pt idx="4">
                  <c:v>28500</c:v>
                </c:pt>
                <c:pt idx="5">
                  <c:v>148000</c:v>
                </c:pt>
                <c:pt idx="6">
                  <c:v>72000</c:v>
                </c:pt>
                <c:pt idx="7">
                  <c:v>14600</c:v>
                </c:pt>
                <c:pt idx="8">
                  <c:v>3200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333B-4FAA-A209-9483CF3A2C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1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4A4A4A"/>
                </a:solidFill>
                <a:latin typeface="Arial"/>
              </a:rPr>
              <a:t>Top 10 Routes by Late %  — West End and Hillsboro lead the struggle bus parade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Late</c:v>
                </c:pt>
              </c:strCache>
            </c:strRef>
          </c:tx>
          <c:spPr>
            <a:solidFill>
              <a:srgbClr val="6B1D2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West End</c:v>
                </c:pt>
                <c:pt idx="1">
                  <c:v>Hillsboro</c:v>
                </c:pt>
                <c:pt idx="2">
                  <c:v>Bordeaux</c:v>
                </c:pt>
                <c:pt idx="3">
                  <c:v>Dickerson Pike</c:v>
                </c:pt>
                <c:pt idx="4">
                  <c:v>Charlotte Pike</c:v>
                </c:pt>
                <c:pt idx="5">
                  <c:v>Nolensville Pike</c:v>
                </c:pt>
                <c:pt idx="6">
                  <c:v>Murfreesboro Pike</c:v>
                </c:pt>
                <c:pt idx="7">
                  <c:v>Gallatin Pike</c:v>
                </c:pt>
                <c:pt idx="8">
                  <c:v>Route 9</c:v>
                </c:pt>
                <c:pt idx="9">
                  <c:v>Route 14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32.1</c:v>
                </c:pt>
                <c:pt idx="1">
                  <c:v>30.4</c:v>
                </c:pt>
                <c:pt idx="2">
                  <c:v>28.9</c:v>
                </c:pt>
                <c:pt idx="3">
                  <c:v>27.6</c:v>
                </c:pt>
                <c:pt idx="4">
                  <c:v>26.3</c:v>
                </c:pt>
                <c:pt idx="5">
                  <c:v>25.8</c:v>
                </c:pt>
                <c:pt idx="6">
                  <c:v>24.2</c:v>
                </c:pt>
                <c:pt idx="7">
                  <c:v>22.7</c:v>
                </c:pt>
                <c:pt idx="8">
                  <c:v>21.4</c:v>
                </c:pt>
                <c:pt idx="9">
                  <c:v>20.100000000000001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80-4A55-9DC4-EA992D75E7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1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4A4A4A"/>
                </a:solidFill>
                <a:latin typeface="Arial"/>
              </a:rPr>
              <a:t>Late % by Hour — afternoon rush peaks near 28%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Late</c:v>
                </c:pt>
              </c:strCache>
            </c:strRef>
          </c:tx>
          <c:spPr>
            <a:ln w="38100" cap="flat">
              <a:solidFill>
                <a:srgbClr val="C45C2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45C26"/>
              </a:solidFill>
              <a:ln w="9525" cap="flat">
                <a:solidFill>
                  <a:srgbClr val="C45C26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4am</c:v>
                </c:pt>
                <c:pt idx="1">
                  <c:v>5am</c:v>
                </c:pt>
                <c:pt idx="2">
                  <c:v>6am</c:v>
                </c:pt>
                <c:pt idx="3">
                  <c:v>7am</c:v>
                </c:pt>
                <c:pt idx="4">
                  <c:v>8am</c:v>
                </c:pt>
                <c:pt idx="5">
                  <c:v>9am</c:v>
                </c:pt>
                <c:pt idx="6">
                  <c:v>10am</c:v>
                </c:pt>
                <c:pt idx="7">
                  <c:v>11am</c:v>
                </c:pt>
                <c:pt idx="8">
                  <c:v>12pm</c:v>
                </c:pt>
                <c:pt idx="9">
                  <c:v>1pm</c:v>
                </c:pt>
                <c:pt idx="10">
                  <c:v>2pm</c:v>
                </c:pt>
                <c:pt idx="11">
                  <c:v>3pm</c:v>
                </c:pt>
                <c:pt idx="12">
                  <c:v>4pm</c:v>
                </c:pt>
                <c:pt idx="13">
                  <c:v>5pm</c:v>
                </c:pt>
                <c:pt idx="14">
                  <c:v>6pm</c:v>
                </c:pt>
                <c:pt idx="15">
                  <c:v>7pm</c:v>
                </c:pt>
                <c:pt idx="16">
                  <c:v>8pm</c:v>
                </c:pt>
                <c:pt idx="17">
                  <c:v>9pm</c:v>
                </c:pt>
                <c:pt idx="18">
                  <c:v>10pm</c:v>
                </c:pt>
                <c:pt idx="19">
                  <c:v>11pm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2.1</c:v>
                </c:pt>
                <c:pt idx="1">
                  <c:v>5.3</c:v>
                </c:pt>
                <c:pt idx="2">
                  <c:v>8.9</c:v>
                </c:pt>
                <c:pt idx="3">
                  <c:v>14.2</c:v>
                </c:pt>
                <c:pt idx="4">
                  <c:v>16.8</c:v>
                </c:pt>
                <c:pt idx="5">
                  <c:v>12.4</c:v>
                </c:pt>
                <c:pt idx="6">
                  <c:v>11.8</c:v>
                </c:pt>
                <c:pt idx="7">
                  <c:v>12.1</c:v>
                </c:pt>
                <c:pt idx="8">
                  <c:v>13.2</c:v>
                </c:pt>
                <c:pt idx="9">
                  <c:v>14.5</c:v>
                </c:pt>
                <c:pt idx="10">
                  <c:v>16.3</c:v>
                </c:pt>
                <c:pt idx="11">
                  <c:v>20.100000000000001</c:v>
                </c:pt>
                <c:pt idx="12">
                  <c:v>27.8</c:v>
                </c:pt>
                <c:pt idx="13">
                  <c:v>27.2</c:v>
                </c:pt>
                <c:pt idx="14">
                  <c:v>22.4</c:v>
                </c:pt>
                <c:pt idx="15">
                  <c:v>18.600000000000001</c:v>
                </c:pt>
                <c:pt idx="16">
                  <c:v>15.2</c:v>
                </c:pt>
                <c:pt idx="17">
                  <c:v>12.8</c:v>
                </c:pt>
                <c:pt idx="18">
                  <c:v>10.4</c:v>
                </c:pt>
                <c:pt idx="19">
                  <c:v>8.6999999999999993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668-4229-9011-361350D335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1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4A4A4A"/>
                </a:solidFill>
                <a:latin typeface="Arial"/>
              </a:rPr>
              <a:t>By Day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Late</c:v>
                </c:pt>
              </c:strCache>
            </c:strRef>
          </c:tx>
          <c:spPr>
            <a:solidFill>
              <a:srgbClr val="6B1D2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B1D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D42-4090-B6A7-F13C05802928}"/>
              </c:ext>
            </c:extLst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D42-4090-B6A7-F13C05802928}"/>
              </c:ext>
            </c:extLst>
          </c:dPt>
          <c:dPt>
            <c:idx val="2"/>
            <c:invertIfNegative val="0"/>
            <c:bubble3D val="0"/>
            <c:spPr>
              <a:solidFill>
                <a:srgbClr val="14A7A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D42-4090-B6A7-F13C0580292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1A1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Weekday</c:v>
                </c:pt>
                <c:pt idx="1">
                  <c:v>Saturday</c:v>
                </c:pt>
                <c:pt idx="2">
                  <c:v>Sunday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18.3</c:v>
                </c:pt>
                <c:pt idx="1">
                  <c:v>17.899999999999999</c:v>
                </c:pt>
                <c:pt idx="2">
                  <c:v>11.4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D42-4090-B6A7-F13C058029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1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4A4A4A"/>
                </a:solidFill>
                <a:latin typeface="Arial"/>
              </a:rPr>
              <a:t>Distribution of Drivers by Late % (500+ crossings)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Drivers</c:v>
                </c:pt>
              </c:strCache>
            </c:strRef>
          </c:tx>
          <c:spPr>
            <a:solidFill>
              <a:srgbClr val="6B1D2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0-5%</c:v>
                </c:pt>
                <c:pt idx="1">
                  <c:v>5-10%</c:v>
                </c:pt>
                <c:pt idx="2">
                  <c:v>10-15%</c:v>
                </c:pt>
                <c:pt idx="3">
                  <c:v>15-20%</c:v>
                </c:pt>
                <c:pt idx="4">
                  <c:v>20-25%</c:v>
                </c:pt>
                <c:pt idx="5">
                  <c:v>25-30%</c:v>
                </c:pt>
                <c:pt idx="6">
                  <c:v>30-35%</c:v>
                </c:pt>
                <c:pt idx="7">
                  <c:v>35-40%</c:v>
                </c:pt>
                <c:pt idx="8">
                  <c:v>40-45%</c:v>
                </c:pt>
                <c:pt idx="9">
                  <c:v>45-55%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22</c:v>
                </c:pt>
                <c:pt idx="2">
                  <c:v>38</c:v>
                </c:pt>
                <c:pt idx="3">
                  <c:v>47</c:v>
                </c:pt>
                <c:pt idx="4">
                  <c:v>41</c:v>
                </c:pt>
                <c:pt idx="5">
                  <c:v>28</c:v>
                </c:pt>
                <c:pt idx="6">
                  <c:v>18</c:v>
                </c:pt>
                <c:pt idx="7">
                  <c:v>10</c:v>
                </c:pt>
                <c:pt idx="8">
                  <c:v>5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D1-4B36-84A5-2C99768F2F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1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4A4A4A"/>
                </a:solidFill>
                <a:latin typeface="Arial"/>
              </a:rPr>
              <a:t>Overall Classification (% of crossings)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Classification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B1D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198-4CDF-811C-FB34E15C9D5B}"/>
              </c:ext>
            </c:extLst>
          </c:dPt>
          <c:dPt>
            <c:idx val="1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98-4CDF-811C-FB34E15C9D5B}"/>
              </c:ext>
            </c:extLst>
          </c:dPt>
          <c:dPt>
            <c:idx val="2"/>
            <c:bubble3D val="0"/>
            <c:spPr>
              <a:solidFill>
                <a:srgbClr val="C45C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98-4CDF-811C-FB34E15C9D5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198-4CDF-811C-FB34E15C9D5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198-4CDF-811C-FB34E15C9D5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198-4CDF-811C-FB34E15C9D5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Bunching</c:v>
                </c:pt>
                <c:pt idx="1">
                  <c:v>Acceptable</c:v>
                </c:pt>
                <c:pt idx="2">
                  <c:v>Gapping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91.7</c:v>
                </c:pt>
                <c:pt idx="1">
                  <c:v>7.5</c:v>
                </c:pt>
                <c:pt idx="2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198-4CDF-811C-FB34E15C9D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8F4F1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4A4A4A"/>
                </a:solidFill>
                <a:latin typeface="Arial"/>
              </a:rPr>
              <a:t>Bunching % by Hour — rush hours (3–5pm) are actually best!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Bunching %</c:v>
                </c:pt>
              </c:strCache>
            </c:strRef>
          </c:tx>
          <c:spPr>
            <a:ln w="38100" cap="flat">
              <a:solidFill>
                <a:srgbClr val="0D737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strRef>
              <c:f>Sheet1!$A$2:$A$17</c:f>
              <c:strCache>
                <c:ptCount val="16"/>
                <c:pt idx="0">
                  <c:v>5am</c:v>
                </c:pt>
                <c:pt idx="1">
                  <c:v>6am</c:v>
                </c:pt>
                <c:pt idx="2">
                  <c:v>7am</c:v>
                </c:pt>
                <c:pt idx="3">
                  <c:v>8am</c:v>
                </c:pt>
                <c:pt idx="4">
                  <c:v>9am</c:v>
                </c:pt>
                <c:pt idx="5">
                  <c:v>10am</c:v>
                </c:pt>
                <c:pt idx="6">
                  <c:v>11am</c:v>
                </c:pt>
                <c:pt idx="7">
                  <c:v>12pm</c:v>
                </c:pt>
                <c:pt idx="8">
                  <c:v>1pm</c:v>
                </c:pt>
                <c:pt idx="9">
                  <c:v>2pm</c:v>
                </c:pt>
                <c:pt idx="10">
                  <c:v>3pm</c:v>
                </c:pt>
                <c:pt idx="11">
                  <c:v>4pm</c:v>
                </c:pt>
                <c:pt idx="12">
                  <c:v>5pm</c:v>
                </c:pt>
                <c:pt idx="13">
                  <c:v>6pm</c:v>
                </c:pt>
                <c:pt idx="14">
                  <c:v>7pm</c:v>
                </c:pt>
                <c:pt idx="15">
                  <c:v>8pm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97.1</c:v>
                </c:pt>
                <c:pt idx="1">
                  <c:v>94.4</c:v>
                </c:pt>
                <c:pt idx="2">
                  <c:v>90.6</c:v>
                </c:pt>
                <c:pt idx="3">
                  <c:v>90.3</c:v>
                </c:pt>
                <c:pt idx="4">
                  <c:v>92.8</c:v>
                </c:pt>
                <c:pt idx="5">
                  <c:v>93.1</c:v>
                </c:pt>
                <c:pt idx="6">
                  <c:v>93.5</c:v>
                </c:pt>
                <c:pt idx="7">
                  <c:v>92.1</c:v>
                </c:pt>
                <c:pt idx="8">
                  <c:v>92.5</c:v>
                </c:pt>
                <c:pt idx="9">
                  <c:v>90.7</c:v>
                </c:pt>
                <c:pt idx="10">
                  <c:v>87.1</c:v>
                </c:pt>
                <c:pt idx="11">
                  <c:v>86.9</c:v>
                </c:pt>
                <c:pt idx="12">
                  <c:v>87.9</c:v>
                </c:pt>
                <c:pt idx="13">
                  <c:v>89.6</c:v>
                </c:pt>
                <c:pt idx="14">
                  <c:v>93.1</c:v>
                </c:pt>
                <c:pt idx="15">
                  <c:v>94.9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EC3-42E9-997C-F4FCF55BEF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1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4A4A4A"/>
                </a:solidFill>
                <a:latin typeface="Arial"/>
              </a:rPr>
              <a:t>Downstream Adherence by First Stop Start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Downstream Adherence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CC6-47F1-A7EA-C3C96451327E}"/>
              </c:ext>
            </c:extLst>
          </c:dPt>
          <c:dPt>
            <c:idx val="1"/>
            <c:invertIfNegative val="0"/>
            <c:bubble3D val="0"/>
            <c:spPr>
              <a:solidFill>
                <a:srgbClr val="C45C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CC6-47F1-A7EA-C3C96451327E}"/>
              </c:ext>
            </c:extLst>
          </c:dPt>
          <c:dPt>
            <c:idx val="2"/>
            <c:invertIfNegative val="0"/>
            <c:bubble3D val="0"/>
            <c:spPr>
              <a:solidFill>
                <a:srgbClr val="6B1D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CC6-47F1-A7EA-C3C96451327E}"/>
              </c:ext>
            </c:extLst>
          </c:dPt>
          <c:cat>
            <c:strRef>
              <c:f>Sheet1!$A$2:$A$4</c:f>
              <c:strCache>
                <c:ptCount val="3"/>
                <c:pt idx="0">
                  <c:v>On Time / Early Start</c:v>
                </c:pt>
                <c:pt idx="1">
                  <c:v>Slightly Late Start (0-6 min)</c:v>
                </c:pt>
                <c:pt idx="2">
                  <c:v>Very Late Start (6+ min)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-1.2</c:v>
                </c:pt>
                <c:pt idx="1">
                  <c:v>-1.8</c:v>
                </c:pt>
                <c:pt idx="2">
                  <c:v>-5.9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CC6-47F1-A7EA-C3C9645132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1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Arial"/>
              </a:defRPr>
            </a:pPr>
            <a:r>
              <a:rPr lang="en-US" sz="1100" b="0" i="0" u="none" strike="noStrike" dirty="0">
                <a:solidFill>
                  <a:srgbClr val="4A4A4A"/>
                </a:solidFill>
                <a:latin typeface="Arial"/>
              </a:rPr>
              <a:t>Headway Stability by Actual Dwell/Layover Time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Abs Headway Dev (min)</c:v>
                </c:pt>
              </c:strCache>
            </c:strRef>
          </c:tx>
          <c:spPr>
            <a:solidFill>
              <a:srgbClr val="6B1D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51-44A0-8570-16334E91914F}"/>
              </c:ext>
            </c:extLst>
          </c:dPt>
          <c:dPt>
            <c:idx val="1"/>
            <c:invertIfNegative val="0"/>
            <c:bubble3D val="0"/>
            <c:spPr>
              <a:solidFill>
                <a:srgbClr val="C45C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51-44A0-8570-16334E91914F}"/>
              </c:ext>
            </c:extLst>
          </c:dPt>
          <c:dPt>
            <c:idx val="2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51-44A0-8570-16334E91914F}"/>
              </c:ext>
            </c:extLst>
          </c:dPt>
          <c:dPt>
            <c:idx val="3"/>
            <c:invertIfNegative val="0"/>
            <c:bubble3D val="0"/>
            <c:spPr>
              <a:solidFill>
                <a:srgbClr val="8C2C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51-44A0-8570-16334E91914F}"/>
              </c:ext>
            </c:extLst>
          </c:dPt>
          <c:cat>
            <c:strRef>
              <c:f>Sheet1!$A$2:$A$5</c:f>
              <c:strCache>
                <c:ptCount val="4"/>
                <c:pt idx="0">
                  <c:v>Short (&lt;5 min)</c:v>
                </c:pt>
                <c:pt idx="1">
                  <c:v>Medium (5-10)</c:v>
                </c:pt>
                <c:pt idx="2">
                  <c:v>Long (10-20)</c:v>
                </c:pt>
                <c:pt idx="3">
                  <c:v>Very Long (20+)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8.4</c:v>
                </c:pt>
                <c:pt idx="1">
                  <c:v>7.2</c:v>
                </c:pt>
                <c:pt idx="2">
                  <c:v>6.8</c:v>
                </c:pt>
                <c:pt idx="3">
                  <c:v>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051-44A0-8570-16334E9191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4F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613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1645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</a:rPr>
              <a:t>WeGo Nashville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65760" y="2331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6F0F1"/>
                </a:solidFill>
              </a:rPr>
              <a:t>Bus Performance Analysis</a:t>
            </a:r>
          </a:p>
          <a:p>
            <a:pPr marL="0" indent="0" algn="l">
              <a:buNone/>
            </a:pPr>
            <a:endParaRPr lang="en-US" sz="2000" dirty="0">
              <a:solidFill>
                <a:srgbClr val="D6F0F1"/>
              </a:solidFill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D6F0F1"/>
                </a:solidFill>
              </a:rPr>
              <a:t>Team: Axel Rose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0" y="9144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🚌</a:t>
            </a:r>
            <a:endParaRPr lang="en-US" sz="8000" dirty="0"/>
          </a:p>
        </p:txBody>
      </p:sp>
      <p:sp>
        <p:nvSpPr>
          <p:cNvPr id="8" name="Text 5"/>
          <p:cNvSpPr/>
          <p:nvPr/>
        </p:nvSpPr>
        <p:spPr>
          <a:xfrm>
            <a:off x="4846320" y="21945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D6F0F1"/>
                </a:solidFill>
              </a:rPr>
              <a:t>We analyzed 338,000+ bus crossings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i="1" dirty="0">
                <a:solidFill>
                  <a:srgbClr val="D6F0F1"/>
                </a:solidFill>
              </a:rPr>
              <a:t>so you don't have to.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846320" y="3291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7840"/>
                </a:solidFill>
              </a:rPr>
              <a:t>You're welcome, Nashville. 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6B1D2B"/>
          </a:solidFill>
          <a:ln w="12700">
            <a:solidFill>
              <a:srgbClr val="6B1D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NewForce Cohort 12  •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7377"/>
                </a:solidFill>
              </a:rPr>
              <a:t>The Big Picture: Are We On Time?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560320" cy="16916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371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79.7%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2004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On Time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54680" y="914400"/>
            <a:ext cx="2560320" cy="1691640"/>
          </a:xfrm>
          <a:prstGeom prst="rect">
            <a:avLst/>
          </a:prstGeom>
          <a:solidFill>
            <a:srgbClr val="6B1D2B"/>
          </a:solidFill>
          <a:ln w="12700">
            <a:solidFill>
              <a:srgbClr val="6B1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0515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54680" y="1371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17.4%</a:t>
            </a:r>
            <a:endParaRPr lang="en-US" sz="3600" dirty="0"/>
          </a:p>
        </p:txBody>
      </p:sp>
      <p:sp>
        <p:nvSpPr>
          <p:cNvPr id="11" name="Text 7"/>
          <p:cNvSpPr/>
          <p:nvPr/>
        </p:nvSpPr>
        <p:spPr>
          <a:xfrm>
            <a:off x="315468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Late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89320" y="914400"/>
            <a:ext cx="2560320" cy="169164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0515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89320" y="137160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2.9%</a:t>
            </a:r>
            <a:endParaRPr lang="en-US" sz="3600" dirty="0"/>
          </a:p>
        </p:txBody>
      </p:sp>
      <p:sp>
        <p:nvSpPr>
          <p:cNvPr id="15" name="Text 10"/>
          <p:cNvSpPr/>
          <p:nvPr/>
        </p:nvSpPr>
        <p:spPr>
          <a:xfrm>
            <a:off x="5989320" y="20116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Early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320040" y="2788920"/>
          <a:ext cx="85039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1D2B"/>
          </a:solidFill>
          <a:ln w="12700">
            <a:solidFill>
              <a:srgbClr val="6B1D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B1D2B"/>
                </a:solidFill>
              </a:rPr>
              <a:t>Does Direction Matter? (Spoiler: Yes.)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18288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FROM Downtown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75.0%  on time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6F0F1"/>
                </a:solidFill>
              </a:rPr>
              <a:t>22.1% late  •  3.1% early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D6F0F1"/>
                </a:solidFill>
              </a:rPr>
              <a:t>🚌💨 (running FROM downtown gets messy)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92040" y="914400"/>
            <a:ext cx="3931920" cy="182880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9204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TO Downtown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75.6%  on time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8F4F1"/>
                </a:solidFill>
              </a:rPr>
              <a:t>10.8% late  •  2.5% early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8F4F1"/>
                </a:solidFill>
              </a:rPr>
              <a:t>🎯 Heading into downtown = more punctual</a:t>
            </a:r>
            <a:endParaRPr lang="en-US" sz="10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320040" y="2926080"/>
          <a:ext cx="850392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Where Does Nashville Bus Service Struggle?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62728" y="775121"/>
            <a:ext cx="5053786" cy="4185499"/>
          </a:xfrm>
          <a:prstGeom prst="rect">
            <a:avLst/>
          </a:prstGeom>
          <a:solidFill>
            <a:srgbClr val="1A3A3B"/>
          </a:solidFill>
          <a:ln w="25400">
            <a:solidFill>
              <a:srgbClr val="14A7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6217920" y="914400"/>
            <a:ext cx="2606040" cy="3931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217920" y="10058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63640" y="1508760"/>
            <a:ext cx="2514600" cy="3108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🔴  Downtown core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Worst late clusters
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🔴  Murfreesboro Pike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South corridor hotspot
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🟡  Goodlettsville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Surprising outlier
way up north
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🟢  Route edges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Better performance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at outer stops</a:t>
            </a:r>
            <a:endParaRPr lang="en-US" sz="11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435832-0CE6-1BE7-4687-11C5738CCA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046" t="6737" r="18704" b="9973"/>
          <a:stretch>
            <a:fillRect/>
          </a:stretch>
        </p:blipFill>
        <p:spPr>
          <a:xfrm>
            <a:off x="708448" y="821294"/>
            <a:ext cx="4965616" cy="40936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45C26"/>
                </a:solidFill>
              </a:rPr>
              <a:t>Rush Hour: The Great Bus Villain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86868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5943600" y="868680"/>
          <a:ext cx="2880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Shape 2"/>
          <p:cNvSpPr/>
          <p:nvPr/>
        </p:nvSpPr>
        <p:spPr>
          <a:xfrm>
            <a:off x="320040" y="3794760"/>
            <a:ext cx="4114800" cy="1097280"/>
          </a:xfrm>
          <a:prstGeom prst="rect">
            <a:avLst/>
          </a:prstGeom>
          <a:solidFill>
            <a:srgbClr val="6B1D2B"/>
          </a:solidFill>
          <a:ln w="12700">
            <a:solidFill>
              <a:srgbClr val="6B1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411480" y="3840480"/>
            <a:ext cx="3931920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😩  4–5pm: ~28% of buses are late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Afternoon rush is the enemy of schedules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4663440" y="3794760"/>
            <a:ext cx="4160520" cy="10972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4754880" y="3840480"/>
            <a:ext cx="3977640" cy="10058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😌  Sunday is the GOAT: only 11.4% late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Fewer people, fewer problems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B1D2B"/>
          </a:solidFill>
          <a:ln w="12700">
            <a:solidFill>
              <a:srgbClr val="6B1D2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6B1D2B"/>
                </a:solidFill>
              </a:rPr>
              <a:t>The Driver Effect: It's Real, Y'all</a:t>
            </a:r>
            <a:endParaRPr lang="en-US" sz="28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914400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914400"/>
            <a:ext cx="2971800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051560"/>
            <a:ext cx="411480" cy="4114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52160" y="13716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219</a:t>
            </a:r>
            <a:endParaRPr lang="en-US" sz="3600" dirty="0"/>
          </a:p>
        </p:txBody>
      </p:sp>
      <p:sp>
        <p:nvSpPr>
          <p:cNvPr id="9" name="Text 4"/>
          <p:cNvSpPr/>
          <p:nvPr/>
        </p:nvSpPr>
        <p:spPr>
          <a:xfrm>
            <a:off x="5852160" y="20116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Drivers Analyzed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5852160" y="2514600"/>
            <a:ext cx="2971800" cy="141732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651760"/>
            <a:ext cx="411480" cy="4114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52160" y="29718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18%</a:t>
            </a:r>
            <a:endParaRPr lang="en-US" sz="3600" dirty="0"/>
          </a:p>
        </p:txBody>
      </p:sp>
      <p:sp>
        <p:nvSpPr>
          <p:cNvPr id="13" name="Text 7"/>
          <p:cNvSpPr/>
          <p:nvPr/>
        </p:nvSpPr>
        <p:spPr>
          <a:xfrm>
            <a:off x="5852160" y="36118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Average Late Rate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20040" y="3931920"/>
            <a:ext cx="41148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411480" y="3977640"/>
            <a:ext cx="393192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🏆  Best driver: only 0.6% late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Somebody's getting a gold star sticker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709160" y="3931920"/>
            <a:ext cx="4114800" cy="960120"/>
          </a:xfrm>
          <a:prstGeom prst="rect">
            <a:avLst/>
          </a:prstGeom>
          <a:solidFill>
            <a:srgbClr val="6B1D2B"/>
          </a:solidFill>
          <a:ln w="12700">
            <a:solidFill>
              <a:srgbClr val="6B1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4800600" y="3977640"/>
            <a:ext cx="393192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😬  Worst driver: 54.4% late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Half the time. Every time. Bless their heart.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7377"/>
                </a:solidFill>
              </a:rPr>
              <a:t>Headway: The Bunching Problem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320040" y="86868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</a:rPr>
              <a:t>Headway = time between buses at the same stop.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</a:rPr>
              <a:t>Bunching = buses clump together. Gapping = huge gaps between buses.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4A4A"/>
                </a:solidFill>
              </a:rPr>
              <a:t>Acceptable range: 50%–150% of scheduled headway.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1691640"/>
          <a:ext cx="36576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/>
        </p:nvGraphicFramePr>
        <p:xfrm>
          <a:off x="4160520" y="1691640"/>
          <a:ext cx="46634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5C26"/>
          </a:solidFill>
          <a:ln w="12700">
            <a:solidFill>
              <a:srgbClr val="C45C2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45C26"/>
                </a:solidFill>
              </a:rPr>
              <a:t>The Domino Effect: First Stop → Everything Else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914400"/>
          <a:ext cx="42062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09160" y="914400"/>
          <a:ext cx="41148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20040" y="3566160"/>
            <a:ext cx="4206240" cy="1325880"/>
          </a:xfrm>
          <a:prstGeom prst="rect">
            <a:avLst/>
          </a:prstGeom>
          <a:solidFill>
            <a:srgbClr val="6B1D2B"/>
          </a:solidFill>
          <a:ln w="12700">
            <a:solidFill>
              <a:srgbClr val="6B1D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11480" y="3611880"/>
            <a:ext cx="4023360" cy="1234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🚨  Start 6+ minutes late?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You'll probably stay late.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Buses that start very late average -5.9 min downstream — nearly at the threshold.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4709160" y="3566160"/>
            <a:ext cx="4114800" cy="13258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800600" y="3611880"/>
            <a:ext cx="3931920" cy="12344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⏱️  Drivers who take their full layover time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produce more stable headways downstream.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The schedule isn't magic — drivers using their buffer time is.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74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0040" y="1325880"/>
            <a:ext cx="238077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So, What Did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</a:rPr>
              <a:t>We Learn?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320040" y="2606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D6F0F1"/>
                </a:solidFill>
              </a:rPr>
              <a:t>tl;dr — Nashville buses are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D6F0F1"/>
                </a:solidFill>
              </a:rPr>
              <a:t>pretty solid, but rush hour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D6F0F1"/>
                </a:solidFill>
              </a:rPr>
              <a:t>and downtown are tough.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2004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E07840"/>
                </a:solidFill>
              </a:rPr>
              <a:t>🎸  Nashville's still got rhythm.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14800" y="411480"/>
            <a:ext cx="4754880" cy="621792"/>
          </a:xfrm>
          <a:prstGeom prst="rect">
            <a:avLst/>
          </a:prstGeom>
          <a:solidFill>
            <a:srgbClr val="1A3A3B"/>
          </a:solidFill>
          <a:ln w="12700">
            <a:solidFill>
              <a:srgbClr val="14A7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06240" y="457200"/>
            <a:ext cx="4572000" cy="53035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✅  </a:t>
            </a:r>
            <a:r>
              <a:rPr lang="en-US" sz="1200" b="1" dirty="0">
                <a:solidFill>
                  <a:srgbClr val="FFFFFF"/>
                </a:solidFill>
              </a:rPr>
              <a:t>79.7% on-time overall</a:t>
            </a:r>
            <a:r>
              <a:rPr lang="en-US" sz="1200" dirty="0">
                <a:solidFill>
                  <a:srgbClr val="FFFFFF"/>
                </a:solidFill>
              </a:rPr>
              <a:t> — better than it sounds!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14800" y="1161288"/>
            <a:ext cx="4754880" cy="621792"/>
          </a:xfrm>
          <a:prstGeom prst="rect">
            <a:avLst/>
          </a:prstGeom>
          <a:solidFill>
            <a:srgbClr val="1A3A3B"/>
          </a:solidFill>
          <a:ln w="12700">
            <a:solidFill>
              <a:srgbClr val="14A7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206240" y="1207008"/>
            <a:ext cx="4572000" cy="53035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🌆  </a:t>
            </a:r>
            <a:r>
              <a:rPr lang="en-US" sz="1200" b="1" dirty="0">
                <a:solidFill>
                  <a:srgbClr val="FFFFFF"/>
                </a:solidFill>
              </a:rPr>
              <a:t>Downtown &amp; rush hour</a:t>
            </a:r>
            <a:r>
              <a:rPr lang="en-US" sz="1200" dirty="0">
                <a:solidFill>
                  <a:srgbClr val="FFFFFF"/>
                </a:solidFill>
              </a:rPr>
              <a:t> are the biggest trouble spots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14800" y="1911096"/>
            <a:ext cx="4754880" cy="621792"/>
          </a:xfrm>
          <a:prstGeom prst="rect">
            <a:avLst/>
          </a:prstGeom>
          <a:solidFill>
            <a:srgbClr val="1A3A3B"/>
          </a:solidFill>
          <a:ln w="12700">
            <a:solidFill>
              <a:srgbClr val="14A7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06240" y="1956816"/>
            <a:ext cx="4572000" cy="53035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🚌  </a:t>
            </a:r>
            <a:r>
              <a:rPr lang="en-US" sz="1200" b="1" dirty="0">
                <a:solidFill>
                  <a:srgbClr val="FFFFFF"/>
                </a:solidFill>
              </a:rPr>
              <a:t>FROM downtown is rougher</a:t>
            </a:r>
            <a:r>
              <a:rPr lang="en-US" sz="1200" dirty="0">
                <a:solidFill>
                  <a:srgbClr val="FFFFFF"/>
                </a:solidFill>
              </a:rPr>
              <a:t> than heading in (22% vs 11% late)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0" y="2660904"/>
            <a:ext cx="4754880" cy="621792"/>
          </a:xfrm>
          <a:prstGeom prst="rect">
            <a:avLst/>
          </a:prstGeom>
          <a:solidFill>
            <a:srgbClr val="1A3A3B"/>
          </a:solidFill>
          <a:ln w="12700">
            <a:solidFill>
              <a:srgbClr val="14A7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206240" y="2706624"/>
            <a:ext cx="4572000" cy="53035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😴  </a:t>
            </a:r>
            <a:r>
              <a:rPr lang="en-US" sz="1200" b="1" dirty="0">
                <a:solidFill>
                  <a:srgbClr val="FFFFFF"/>
                </a:solidFill>
              </a:rPr>
              <a:t>Sunday is the best day</a:t>
            </a:r>
            <a:r>
              <a:rPr lang="en-US" sz="1200" dirty="0">
                <a:solidFill>
                  <a:srgbClr val="FFFFFF"/>
                </a:solidFill>
              </a:rPr>
              <a:t> to ride — only 11.4% late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14800" y="3410712"/>
            <a:ext cx="4754880" cy="621792"/>
          </a:xfrm>
          <a:prstGeom prst="rect">
            <a:avLst/>
          </a:prstGeom>
          <a:solidFill>
            <a:srgbClr val="1A3A3B"/>
          </a:solidFill>
          <a:ln w="12700">
            <a:solidFill>
              <a:srgbClr val="14A7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206240" y="3456432"/>
            <a:ext cx="4572000" cy="53035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🧑‍✈️  </a:t>
            </a:r>
            <a:r>
              <a:rPr lang="en-US" sz="1200" b="1" dirty="0">
                <a:solidFill>
                  <a:srgbClr val="FFFFFF"/>
                </a:solidFill>
              </a:rPr>
              <a:t>Drivers matter a lot</a:t>
            </a:r>
            <a:r>
              <a:rPr lang="en-US" sz="1200" dirty="0">
                <a:solidFill>
                  <a:srgbClr val="FFFFFF"/>
                </a:solidFill>
              </a:rPr>
              <a:t> — 0.6% to 54% late range!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0" y="4160520"/>
            <a:ext cx="4754880" cy="621792"/>
          </a:xfrm>
          <a:prstGeom prst="rect">
            <a:avLst/>
          </a:prstGeom>
          <a:solidFill>
            <a:srgbClr val="1A3A3B"/>
          </a:solidFill>
          <a:ln w="12700">
            <a:solidFill>
              <a:srgbClr val="14A7A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4206240" y="4206240"/>
            <a:ext cx="4572000" cy="530352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🎛️  </a:t>
            </a:r>
            <a:r>
              <a:rPr lang="en-US" sz="1200" b="1" dirty="0">
                <a:solidFill>
                  <a:srgbClr val="FFFFFF"/>
                </a:solidFill>
              </a:rPr>
              <a:t>Layover time = headway stability</a:t>
            </a:r>
            <a:r>
              <a:rPr lang="en-US" sz="1200" dirty="0">
                <a:solidFill>
                  <a:srgbClr val="FFFFFF"/>
                </a:solidFill>
              </a:rPr>
              <a:t> — use the buffer!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543</Words>
  <Application>Microsoft Office PowerPoint</Application>
  <PresentationFormat>On-screen Show (16:9)</PresentationFormat>
  <Paragraphs>94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WeGo Nashville Bus Performance</dc:title>
  <dc:subject>PptxGenJS Presentation</dc:subject>
  <dc:creator>PptxGenJS</dc:creator>
  <cp:lastModifiedBy>Michelle Ruppert</cp:lastModifiedBy>
  <cp:revision>3</cp:revision>
  <dcterms:created xsi:type="dcterms:W3CDTF">2026-04-27T15:34:43Z</dcterms:created>
  <dcterms:modified xsi:type="dcterms:W3CDTF">2026-04-27T15:45:49Z</dcterms:modified>
</cp:coreProperties>
</file>