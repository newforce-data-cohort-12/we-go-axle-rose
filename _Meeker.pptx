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Adherence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adherence (min)</c:v>
                </c:pt>
              </c:strCache>
            </c:strRef>
          </c:tx>
          <c:spPr>
            <a:ln w="38100" cap="flat">
              <a:solidFill>
                <a:srgbClr val="00C2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2A8"/>
              </a:solidFill>
              <a:ln w="9525" cap="flat">
                <a:solidFill>
                  <a:srgbClr val="00C2A8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12a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12p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9</c:v>
                </c:pt>
                <c:pt idx="22">
                  <c:v>10</c:v>
                </c:pt>
                <c:pt idx="23">
                  <c:v>11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-2.1</c:v>
                </c:pt>
                <c:pt idx="1">
                  <c:v>-1.8</c:v>
                </c:pt>
                <c:pt idx="2">
                  <c:v>-1.5</c:v>
                </c:pt>
                <c:pt idx="3">
                  <c:v>-1.2</c:v>
                </c:pt>
                <c:pt idx="4">
                  <c:v>-1</c:v>
                </c:pt>
                <c:pt idx="5">
                  <c:v>-1.8</c:v>
                </c:pt>
                <c:pt idx="6">
                  <c:v>-2.5</c:v>
                </c:pt>
                <c:pt idx="7">
                  <c:v>-3.2</c:v>
                </c:pt>
                <c:pt idx="8">
                  <c:v>-3</c:v>
                </c:pt>
                <c:pt idx="9">
                  <c:v>-2.9</c:v>
                </c:pt>
                <c:pt idx="10">
                  <c:v>-3.1</c:v>
                </c:pt>
                <c:pt idx="11">
                  <c:v>-3.3</c:v>
                </c:pt>
                <c:pt idx="12">
                  <c:v>-3.2</c:v>
                </c:pt>
                <c:pt idx="13">
                  <c:v>-3.4</c:v>
                </c:pt>
                <c:pt idx="14">
                  <c:v>-3.5</c:v>
                </c:pt>
                <c:pt idx="15">
                  <c:v>-3.6</c:v>
                </c:pt>
                <c:pt idx="16">
                  <c:v>-3.2</c:v>
                </c:pt>
                <c:pt idx="17">
                  <c:v>-2.8</c:v>
                </c:pt>
                <c:pt idx="18">
                  <c:v>-3</c:v>
                </c:pt>
                <c:pt idx="19">
                  <c:v>-3.3</c:v>
                </c:pt>
                <c:pt idx="20">
                  <c:v>-3.5</c:v>
                </c:pt>
                <c:pt idx="21">
                  <c:v>-2.9</c:v>
                </c:pt>
                <c:pt idx="22">
                  <c:v>-2.4</c:v>
                </c:pt>
                <c:pt idx="23">
                  <c:v>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BF1-4CCF-A711-5833C90DC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B3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adherence (min)</c:v>
                </c:pt>
              </c:strCache>
            </c:strRef>
          </c:tx>
          <c:spPr>
            <a:solidFill>
              <a:srgbClr val="E6346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-3.2</c:v>
                </c:pt>
                <c:pt idx="1">
                  <c:v>-3.1</c:v>
                </c:pt>
                <c:pt idx="2">
                  <c:v>-3.3</c:v>
                </c:pt>
                <c:pt idx="3">
                  <c:v>-3.2</c:v>
                </c:pt>
                <c:pt idx="4">
                  <c:v>-3</c:v>
                </c:pt>
                <c:pt idx="5">
                  <c:v>-2.7</c:v>
                </c:pt>
                <c:pt idx="6">
                  <c:v>-2.4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4B-4FC9-968D-E4297F10B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B3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Headway status breakdown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stops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A4-4B43-B2BF-4EE8C5E352DF}"/>
              </c:ext>
            </c:extLst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A4-4B43-B2BF-4EE8C5E352DF}"/>
              </c:ext>
            </c:extLst>
          </c:dPt>
          <c:dPt>
            <c:idx val="2"/>
            <c:invertIfNegative val="0"/>
            <c:bubble3D val="0"/>
            <c:spPr>
              <a:solidFill>
                <a:srgbClr val="E634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A4-4B43-B2BF-4EE8C5E352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Bunching (&lt;50%)</c:v>
                </c:pt>
                <c:pt idx="1">
                  <c:v>Acceptable (50–150%)</c:v>
                </c:pt>
                <c:pt idx="2">
                  <c:v>Gapping (&gt;150%)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85</c:v>
                </c:pt>
                <c:pt idx="2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A4-4B43-B2BF-4EE8C5E352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B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B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492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7C948">
              <a:alpha val="25000"/>
            </a:srgbClr>
          </a:solidFill>
          <a:ln w="12700">
            <a:solidFill>
              <a:srgbClr val="F7C94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E63462">
              <a:alpha val="20000"/>
            </a:srgbClr>
          </a:solidFill>
          <a:ln w="12700">
            <a:solidFill>
              <a:srgbClr val="E6346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🎸 AXEL ROSE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kern="0" spc="-200" dirty="0">
                <a:solidFill>
                  <a:srgbClr val="F7C948"/>
                </a:solidFill>
              </a:rPr>
              <a:t>WeGo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</a:rPr>
              <a:t>Bus Performance Analysis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384048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</a:rPr>
              <a:t>350,329 stop observations. One big question: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</a:rPr>
              <a:t>why is everyone running early?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4114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🚌💨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 The Big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63462"/>
                </a:solidFill>
              </a:rPr>
              <a:t>64.4%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C948"/>
                </a:solidFill>
              </a:rPr>
              <a:t>of stops are served EARLY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(more than 1 min ahead of schedule)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Mean adherence: −3.1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96012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34.0%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On-time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96012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64.4%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Early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51460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1.6%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4688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350K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58000" y="318211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stops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411480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4114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💡  Early = missed buses too. It's not just about being late.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🗺️  Where Does It Go Wrong?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3840480"/>
          </a:xfrm>
          <a:prstGeom prst="roundRect">
            <a:avLst>
              <a:gd name="adj" fmla="val 483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🧭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Direction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Both inbound &amp; outbound run early — no direction is immune. The fleet-wide mean is −3.1 min across all directions.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834640" cy="3840480"/>
          </a:xfrm>
          <a:prstGeom prst="roundRect">
            <a:avLst>
              <a:gd name="adj" fmla="val 4839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097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🛣️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Route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Top 20 routes by volume show wide variation. Some routes average −6 min early. Scheduling, not traffic, is the culprit.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834640" cy="3840480"/>
          </a:xfrm>
          <a:prstGeom prst="roundRect">
            <a:avLst>
              <a:gd name="adj" fmla="val 4839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097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Location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Stop-level map reveals spatial clusters of early-running — terminus stops and low-traffic corridors are the worst offenders.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C948"/>
                </a:solidFill>
              </a:rPr>
              <a:t>⏰  Timing is Everything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36576"/>
          </a:xfrm>
          <a:prstGeom prst="rect">
            <a:avLst/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852160" y="1005840"/>
          <a:ext cx="3017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🔑  Early-running is worst in afternoon off-peak hours. Weekends are slightly better — less pressure to run ahead.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🚌  Does the Driver Matter?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926080" cy="3291840"/>
          </a:xfrm>
          <a:prstGeom prst="roundRect">
            <a:avLst>
              <a:gd name="adj" fmla="val 46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C2A8"/>
                </a:solidFill>
              </a:rPr>
              <a:t>12.7%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of adherence variance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explained by operator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154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299 operators analysed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(≥50 obs each)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00584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005840"/>
            <a:ext cx="73152" cy="658368"/>
          </a:xfrm>
          <a:prstGeom prst="roundRect">
            <a:avLst/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IQR of operator means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0058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−4.2 to −1.9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181051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20440" y="1810512"/>
            <a:ext cx="73152" cy="658368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18105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Best operator average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81051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−10.5 min early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0440" y="261518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20440" y="2615184"/>
            <a:ext cx="73152" cy="658368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26151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Worst operator average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6151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+1.3 min (barely late!)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20440" y="341985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20440" y="3419856"/>
            <a:ext cx="73152" cy="658368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49040" y="34198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Std dev across operators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4198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1.98 min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🎯  Drivers matter — but the schedule is doing most of the damage. Fix scheduling first, then coach the outliers.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🚌🚌  Bunching &amp; Gapping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When buses run early, they bunch together — leaving huge gaps behind them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2344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23444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66344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Pearson r = −0.308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6634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Spearman ρ = −0.500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269748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A2B3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00600" y="2697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📉  Earlier buses = shorter headway = bunching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A2B3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0060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📈  Later buses = longer headway = gaps for riders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37947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A2B3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00600" y="3794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🔄  Spearman (0.50) &gt;&gt; Pearson (0.31) → nonlinear effect at the extremes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434340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A2B3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0060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🚶  Riders don't just miss early buses — they wait twice as long after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420624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💥  85% of stops are within acceptable headway — but the compounding effect of early-running creates real passenger pain.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E63462">
              <a:alpha val="15000"/>
            </a:srgbClr>
          </a:solidFill>
          <a:ln w="12700">
            <a:solidFill>
              <a:srgbClr val="E6346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C948"/>
                </a:solidFill>
              </a:rPr>
              <a:t>So... What Do We Do?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A2B3C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Fix the schedule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Mean adherence of −3.1 min fleet-wide means the schedule is systematically too loose. Tighten run times, especially in off-peak.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A2B3C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3258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04688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Target early-running routes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105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A handful of routes skew heavily early. Route-specific timing point adjustments could dramatically improve overall OTP.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A2B3C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063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Coach the outliers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5478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12.7% of variance is operator-driven. The worst operators run 10+ min early — targeted coaching could close that gap.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A2B3C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3063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04688" y="3063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Monitor headway, not just adherence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5478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A bus can be "early" but still provide good service. Headway deviation tells the real passenger experience story.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1B2A">
              <a:alpha val="30000"/>
            </a:srgbClr>
          </a:solidFill>
          <a:ln w="12700">
            <a:solidFill>
              <a:srgbClr val="0D1B2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7C948">
              <a:alpha val="30000"/>
            </a:srgbClr>
          </a:solidFill>
          <a:ln w="12700">
            <a:solidFill>
              <a:srgbClr val="F7C9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Thanks for riding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with Axel Rose 🎸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286000" y="3200400"/>
            <a:ext cx="4572000" cy="64008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Any questions? (We promise we ran on time.) 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WeGo Bus Performance Analysis  •  350,329 observations  •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516</Words>
  <Application>Microsoft Office PowerPoint</Application>
  <PresentationFormat>On-screen Show (16:9)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WeGo Bus Analysis — Axel Rose</dc:title>
  <dc:subject>PptxGenJS Presentation</dc:subject>
  <dc:creator>PptxGenJS</dc:creator>
  <cp:lastModifiedBy>John D Meeker</cp:lastModifiedBy>
  <cp:revision>1</cp:revision>
  <dcterms:created xsi:type="dcterms:W3CDTF">2026-04-22T14:42:02Z</dcterms:created>
  <dcterms:modified xsi:type="dcterms:W3CDTF">2026-04-27T16:33:33Z</dcterms:modified>
</cp:coreProperties>
</file>